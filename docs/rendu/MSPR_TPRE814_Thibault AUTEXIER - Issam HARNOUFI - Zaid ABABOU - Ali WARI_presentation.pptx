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40AF"/>
                </a:solidFill>
                <a:latin typeface="Aptos"/>
              </a:rPr>
              <a:t>MSPR TPRE814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172A"/>
                </a:solidFill>
                <a:latin typeface="Aptos"/>
              </a:rPr>
              <a:t>FutureKawa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28800"/>
            <a:ext cx="5760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475569"/>
                </a:solidFill>
                <a:latin typeface="Aptos"/>
              </a:rPr>
              <a:t>Application IoT de supervision des stocks et des conditions de stockage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788920"/>
            <a:ext cx="49377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tos"/>
              </a:rPr>
              <a:t>Thibault AUTEXIER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tos"/>
              </a:rPr>
              <a:t>Issam HARNOUFI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tos"/>
              </a:rPr>
              <a:t>Zaid ABABOU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tos"/>
              </a:rPr>
              <a:t>Ali WARI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681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40AF"/>
                </a:solidFill>
                <a:latin typeface="Aptos"/>
              </a:rPr>
              <a:t>Soutenance - 20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685800"/>
            <a:ext cx="49834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shboard_bres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592770"/>
            <a:ext cx="4764024" cy="29775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20840" y="5431536"/>
            <a:ext cx="4617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Interface centrale FutureKawa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Le problème métier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5074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Aptos"/>
              </a:rPr>
              <a:t>FutureKawa doit suivre ses stocks de café vert dans plusieurs pays.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Aptos"/>
              </a:rPr>
              <a:t>Les conditions de stockage influencent directement la qualité : température, humidité, ancienneté des lots.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Aptos"/>
              </a:rPr>
              <a:t>Le siège a besoin d'une vision centralisée, mais les données restent locales par pays.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88620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50791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40A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52628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pays couverts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388620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4050791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A34A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452628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tables métier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3792" y="388620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8383" y="4050791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97706"/>
                </a:solidFill>
                <a:latin typeface="Aptos"/>
              </a:rPr>
              <a:t>ESP32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452628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preuve IoT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1207008"/>
            <a:ext cx="46177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ashboard_bres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1771078"/>
            <a:ext cx="4398264" cy="274891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03720" y="5038344"/>
            <a:ext cx="42519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Vue siège : indicateurs par pays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PÉRIMÈTRE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Ce que nous avons livré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5166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4533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40AF"/>
                </a:solidFill>
                <a:latin typeface="Aptos"/>
              </a:rPr>
              <a:t>Frontend 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57276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0F172A"/>
                </a:solidFill>
                <a:latin typeface="Aptos"/>
              </a:rPr>
              <a:t>dashboard, exploitations, entrepôts, alertes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40280"/>
            <a:ext cx="5166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682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40AF"/>
                </a:solidFill>
                <a:latin typeface="Aptos"/>
              </a:rPr>
              <a:t>APIs NestJS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957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0F172A"/>
                </a:solidFill>
                <a:latin typeface="Aptos"/>
              </a:rPr>
              <a:t>API centrale + API pays réutilisable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063240"/>
            <a:ext cx="5166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19125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40AF"/>
                </a:solidFill>
                <a:latin typeface="Aptos"/>
              </a:rPr>
              <a:t>SQL + 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21868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0F172A"/>
                </a:solidFill>
                <a:latin typeface="Aptos"/>
              </a:rPr>
              <a:t>MySQL par pays, stack reproductible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886200"/>
            <a:ext cx="5166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14215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40AF"/>
                </a:solidFill>
                <a:latin typeface="Aptos"/>
              </a:rPr>
              <a:t>IoT + MQTT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04164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0F172A"/>
                </a:solidFill>
                <a:latin typeface="Aptos"/>
              </a:rPr>
              <a:t>ESP32/DHT11, Mosquitto, bridge HTTP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709160"/>
            <a:ext cx="5166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8371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40AF"/>
                </a:solidFill>
                <a:latin typeface="Aptos"/>
              </a:rPr>
              <a:t>CI + preuves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86460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0F172A"/>
                </a:solidFill>
                <a:latin typeface="Aptos"/>
              </a:rPr>
              <a:t>Jenkins, tests, rapport, captures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1143000"/>
            <a:ext cx="4892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rchitecture_fl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275880"/>
            <a:ext cx="4672583" cy="19313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29400" y="5294376"/>
            <a:ext cx="4526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Flux global livré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FLUX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Architecture applicative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600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39112"/>
            <a:ext cx="1380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ESP32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828800"/>
            <a:ext cx="1600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1448" y="2039112"/>
            <a:ext cx="1380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MQTT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1828800"/>
            <a:ext cx="1600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41648" y="2039112"/>
            <a:ext cx="1380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API pays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828800"/>
            <a:ext cx="1600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41848" y="2039112"/>
            <a:ext cx="1380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MySQL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828800"/>
            <a:ext cx="1600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048" y="2039112"/>
            <a:ext cx="1380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API centrale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828800"/>
            <a:ext cx="1600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6567" y="2039112"/>
            <a:ext cx="1380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React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31720" y="2148840"/>
            <a:ext cx="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31920" y="2148840"/>
            <a:ext cx="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32120" y="2148840"/>
            <a:ext cx="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132320" y="2148840"/>
            <a:ext cx="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32520" y="2148840"/>
            <a:ext cx="27432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3127248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La donnée part du capteur, passe par MQTT, puis est persistée dans la base du pays.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L'API centrale interroge les APIs pays pour donner une vue siège.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Chaque pays conserve sa base : Brésil, Colombie, Équateur.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880360"/>
            <a:ext cx="49834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rchitecture_fl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229" y="2990088"/>
            <a:ext cx="4645741" cy="192023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92240" y="4974336"/>
            <a:ext cx="4617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Schéma de flux documenté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Déploiement local reproductible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4864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cker_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608511"/>
            <a:ext cx="5266944" cy="14946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34009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Services Docker et état de la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508760"/>
            <a:ext cx="4297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3 bases MySQL, une par pays.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3 APIs pays avec la même base de code.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API centrale + frontend web.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Profil dev : Mosquitto, bridge MQTT et simulateur.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402336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40AF"/>
                </a:solidFill>
                <a:latin typeface="Aptos"/>
              </a:rPr>
              <a:t>Pourquoi c'est important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434840"/>
            <a:ext cx="4160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Aptos"/>
              </a:rPr>
              <a:t>Le jury peut relancer le projet sans dépendre d'un environnement caché.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TRAÇABILITÉ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Base SQL et jeu de données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98448"/>
            <a:ext cx="54864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cd_futureka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688752"/>
            <a:ext cx="5266944" cy="31878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22122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MCD / ERD réel du projet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41732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15819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40AF"/>
                </a:solidFill>
                <a:latin typeface="Aptos"/>
              </a:rPr>
              <a:t>129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05740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lignes 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1732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15819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A34A"/>
                </a:solidFill>
                <a:latin typeface="Aptos"/>
              </a:rPr>
              <a:t>114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05740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importables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69748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2" y="28620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97706"/>
                </a:solidFill>
                <a:latin typeface="Aptos"/>
              </a:rPr>
              <a:t>105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33756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mesures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269748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88552" y="28620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C2626"/>
                </a:solidFill>
                <a:latin typeface="Aptos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33756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rejetées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51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40AF"/>
                </a:solidFill>
                <a:latin typeface="Aptos"/>
              </a:rPr>
              <a:t>Point assumé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617720"/>
            <a:ext cx="4389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>
                <a:solidFill>
                  <a:srgbClr val="0F172A"/>
                </a:solidFill>
                <a:latin typeface="Aptos"/>
              </a:rPr>
              <a:t>Le dépôt contient un jeu SQL exploitable dans docs/data_tests. Aucun CSV/Excel officiel n'était présent dans le dépôt. Les 15 rejets correspondent à des mesures sur un entrepôt absent.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EMBARQUÉ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Prototype IoT ESP32 + DHT11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4983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sp32_dht11_w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914427"/>
            <a:ext cx="4764024" cy="26542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111496"/>
            <a:ext cx="4617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Câblage exact : VCC, GND, DATA GPIO32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074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honn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557" y="1435607"/>
            <a:ext cx="3185085" cy="3611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46520" y="5111496"/>
            <a:ext cx="4709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Script MicroPython exécuté dans Thonny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9601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F172A"/>
                </a:solidFill>
                <a:latin typeface="Aptos"/>
              </a:rPr>
              <a:t>Le capteur publie un JSON température/humidité sur MQTT.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MQTT vers API : le pont terrain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3492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qtt_bridge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640515"/>
            <a:ext cx="5129783" cy="12477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5065775"/>
            <a:ext cx="49834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Bridge MQTT : message reçu puis posté vers l'API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50876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Topic : futurekawa/mesures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Payload : id_entrepot, temperature, humidite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Le bridge transforme le message MQTT en POST /mesures.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Le même flux est testable sans matériel avec mosquitto_pub.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4251960"/>
            <a:ext cx="2468880" cy="329184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4325112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Capteur réel ou simulation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4251960"/>
            <a:ext cx="1965960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4325112"/>
            <a:ext cx="1783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Même contrat 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Interface de supervision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43584"/>
            <a:ext cx="52852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xploitations_bres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736217"/>
            <a:ext cx="5065776" cy="31661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349240"/>
            <a:ext cx="4919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Page exploitations : mesures et graphe lisible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243584"/>
            <a:ext cx="52852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ntrepots_bres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736217"/>
            <a:ext cx="5065776" cy="31661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19088" y="5349240"/>
            <a:ext cx="4919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Page entrepôts : détail, lots et historique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DÉCISION PRODUIT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Alertes : ne pas afficher un signal isolé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8920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Aptos"/>
              </a:rPr>
              <a:t>Une alerte doit ramener vers le contexte métier : pays, exploitation, entrepôt, historique.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Aptos"/>
              </a:rPr>
              <a:t>Le responsable peut comprendre la cause au lieu de voir seulement un badge rouge.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F172A"/>
                </a:solidFill>
                <a:latin typeface="Aptos"/>
              </a:rPr>
              <a:t>SMTP réel possible ; sinon le mode log garde une preuve démontrable.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498348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314507"/>
            <a:ext cx="4764024" cy="1442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4791455"/>
            <a:ext cx="4617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Preuve notification mail / alerte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38912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45537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97706"/>
                </a:solidFill>
                <a:latin typeface="Aptos"/>
              </a:rPr>
              <a:t>seuil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02920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température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38912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3552" y="45537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40AF"/>
                </a:solidFill>
                <a:latin typeface="Aptos"/>
              </a:rPr>
              <a:t>seuil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02920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humidité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INTÉGRATION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Adaptateur ERP simulé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98448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rp_stock-mov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468863"/>
            <a:ext cx="5266944" cy="35819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175503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Export stock en format ERP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508760"/>
            <a:ext cx="42519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Routes /erp/health, /erp/stock-movements, /erp/quality-alerts.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Protection par clé API et rôle simple.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POC honnête : pas de SAP/Dynamics réel, mais mapping stock/qualité prêt.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4160520"/>
            <a:ext cx="1143000" cy="329184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4233672"/>
            <a:ext cx="960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160520"/>
            <a:ext cx="1325880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4233672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quality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4160520"/>
            <a:ext cx="1143000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4233672"/>
            <a:ext cx="960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Tests et intégration continue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43584"/>
            <a:ext cx="5623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jenkins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347645"/>
            <a:ext cx="5404104" cy="18060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212080"/>
            <a:ext cx="5257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475569"/>
                </a:solidFill>
                <a:latin typeface="Aptos"/>
              </a:rPr>
              <a:t>Pipeline Jenkins vert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508760"/>
            <a:ext cx="41605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Tests automatisés : seuils mesure, mapping ERP, parsing dataset.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Build API pays, API centrale, frontend et image bridge.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Docker Compose validé avant build.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Aptos"/>
              </a:rPr>
              <a:t>• Anomalies et re-tests documentés.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42062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40AF"/>
                </a:solidFill>
                <a:latin typeface="Aptos"/>
              </a:rPr>
              <a:t>Message à porter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590288"/>
            <a:ext cx="4069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Aptos"/>
              </a:rPr>
              <a:t>On ne montre pas seulement une application : on montre une démarche vérifiable.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INDUSTRIALISATION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Limites assumées et suite logique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72768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40AF"/>
                </a:solidFill>
                <a:latin typeface="Aptos"/>
              </a:rPr>
              <a:t>Sécurité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JWT/SSO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HTTPS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rate limiting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1572768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12464" y="182880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40AF"/>
                </a:solidFill>
                <a:latin typeface="Aptos"/>
              </a:rPr>
              <a:t>ERP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33172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connecteur réel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flux retour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format éditeur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1572768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182880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40AF"/>
                </a:solidFill>
                <a:latin typeface="Aptos"/>
              </a:rPr>
              <a:t>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33172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E2E navigateur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couverture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SonarQube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62288" y="1572768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7" y="182880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40AF"/>
                </a:solidFill>
                <a:latin typeface="Aptos"/>
              </a:rPr>
              <a:t>Exploitation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1744" y="233172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supervision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sauvegardes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tos"/>
              </a:rPr>
              <a:t>• déploiement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Aptos"/>
              </a:rPr>
              <a:t>Ces limites ne cachent pas le travail : elles montrent la trajectoire pour passer du POC à une version industrielle.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40AF"/>
                </a:solidFill>
                <a:latin typeface="Aptos"/>
              </a:rPr>
              <a:t>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43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Aptos"/>
              </a:rPr>
              <a:t>FutureKawa - MSPR TPRE814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Aptos"/>
              </a:rPr>
              <a:t>FutureKawa est une chaîne complète de supervision : donnée terrain, stockage SQL, API, interface, alertes, tests et documentation.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306324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32278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40A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7033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pays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306324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7911" y="32278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A34A"/>
                </a:solidFill>
                <a:latin typeface="Aptos"/>
              </a:rPr>
              <a:t>MQTT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7033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flux IoT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06324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32278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97706"/>
                </a:solidFill>
                <a:latin typeface="Aptos"/>
              </a:rPr>
              <a:t>Jenkins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7033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CI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306324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32278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40AF"/>
                </a:solidFill>
                <a:latin typeface="Aptos"/>
              </a:rPr>
              <a:t>59p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7033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475569"/>
                </a:solidFill>
                <a:latin typeface="Aptos"/>
              </a:rPr>
              <a:t>rapport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E40AF"/>
                </a:solidFill>
                <a:latin typeface="Aptos"/>
              </a:rPr>
              <a:t>Merci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